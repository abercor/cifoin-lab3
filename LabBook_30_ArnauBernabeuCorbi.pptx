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89" r:id="rId3"/>
    <p:sldId id="290" r:id="rId4"/>
    <p:sldId id="296" r:id="rId5"/>
    <p:sldId id="375" r:id="rId6"/>
    <p:sldId id="376" r:id="rId7"/>
    <p:sldId id="377" r:id="rId8"/>
    <p:sldId id="388" r:id="rId9"/>
    <p:sldId id="380" r:id="rId10"/>
    <p:sldId id="381" r:id="rId11"/>
    <p:sldId id="288" r:id="rId12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38" autoAdjust="0"/>
    <p:restoredTop sz="95033" autoAdjust="0"/>
  </p:normalViewPr>
  <p:slideViewPr>
    <p:cSldViewPr>
      <p:cViewPr varScale="1">
        <p:scale>
          <a:sx n="64" d="100"/>
          <a:sy n="64" d="100"/>
        </p:scale>
        <p:origin x="48" y="13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DCA2C-DC1C-94AC-4B44-E792E8105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3DDFC22-9D5D-07E4-D6DC-4D9F86CC1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DFDA27A-7867-5B97-DBC7-5AFE21A3C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521375-3405-AFF1-9827-86123C005F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4884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3.0. CIRCUITS &amp; COMPACT MODELS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3.0. CIRCUITS &amp; COMPACT MODELS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3.0. CIRCUITS &amp; COMPACT MODELS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7"/>
          <p:cNvSpPr/>
          <p:nvPr userDrawn="1"/>
        </p:nvSpPr>
        <p:spPr>
          <a:xfrm>
            <a:off x="608171" y="381001"/>
            <a:ext cx="45731" cy="6834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Título 8"/>
          <p:cNvSpPr>
            <a:spLocks noGrp="1"/>
          </p:cNvSpPr>
          <p:nvPr>
            <p:ph type="title" hasCustomPrompt="1"/>
          </p:nvPr>
        </p:nvSpPr>
        <p:spPr>
          <a:xfrm>
            <a:off x="736652" y="381000"/>
            <a:ext cx="7778317" cy="313782"/>
          </a:xfrm>
        </p:spPr>
        <p:txBody>
          <a:bodyPr>
            <a:normAutofit/>
          </a:bodyPr>
          <a:lstStyle>
            <a:lvl1pPr algn="l">
              <a:defRPr sz="2800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Open Sans Extrabold" panose="020B090603080402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TITULO</a:t>
            </a:r>
          </a:p>
        </p:txBody>
      </p:sp>
      <p:sp>
        <p:nvSpPr>
          <p:cNvPr id="13" name="Marcador de texto 12"/>
          <p:cNvSpPr>
            <a:spLocks noGrp="1"/>
          </p:cNvSpPr>
          <p:nvPr>
            <p:ph type="body" sz="quarter" idx="10" hasCustomPrompt="1"/>
          </p:nvPr>
        </p:nvSpPr>
        <p:spPr>
          <a:xfrm>
            <a:off x="608171" y="1295401"/>
            <a:ext cx="11051877" cy="4958137"/>
          </a:xfrm>
        </p:spPr>
        <p:txBody>
          <a:bodyPr>
            <a:normAutofit/>
          </a:bodyPr>
          <a:lstStyle>
            <a:lvl1pPr>
              <a:defRPr sz="2400" baseline="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2pPr>
            <a:lvl3pPr>
              <a:defRPr sz="16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3pPr>
            <a:lvl4pPr>
              <a:defRPr sz="14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4pPr>
            <a:lvl5pPr>
              <a:defRPr sz="14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s-ES" dirty="0"/>
              <a:t>Texto del contenido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23" name="Marcador de texto 22"/>
          <p:cNvSpPr>
            <a:spLocks noGrp="1"/>
          </p:cNvSpPr>
          <p:nvPr>
            <p:ph type="body" sz="quarter" idx="11" hasCustomPrompt="1"/>
          </p:nvPr>
        </p:nvSpPr>
        <p:spPr>
          <a:xfrm>
            <a:off x="736652" y="730647"/>
            <a:ext cx="7778317" cy="3810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del artículo con una explicación corta a modo resumen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87407"/>
            <a:ext cx="1980287" cy="303019"/>
          </a:xfrm>
          <a:prstGeom prst="rect">
            <a:avLst/>
          </a:prstGeom>
        </p:spPr>
        <p:txBody>
          <a:bodyPr vert="horz" lIns="117208" tIns="58604" rIns="117208" bIns="5860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4768" y="6387407"/>
            <a:ext cx="6402465" cy="303019"/>
          </a:xfrm>
          <a:prstGeom prst="rect">
            <a:avLst/>
          </a:prstGeom>
        </p:spPr>
        <p:txBody>
          <a:bodyPr vert="horz" lIns="117208" tIns="58604" rIns="117208" bIns="5860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LAB 3.0. CIRCUITS &amp; COMPACT MODELS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31389" y="6388096"/>
            <a:ext cx="760611" cy="303019"/>
          </a:xfrm>
          <a:prstGeom prst="rect">
            <a:avLst/>
          </a:prstGeom>
          <a:solidFill>
            <a:schemeClr val="bg2"/>
          </a:solidFill>
        </p:spPr>
        <p:txBody>
          <a:bodyPr vert="horz" lIns="117208" tIns="58604" rIns="117208" bIns="58604" rtlCol="0" anchor="ctr"/>
          <a:lstStyle>
            <a:lvl1pPr algn="r">
              <a:defRPr sz="1200">
                <a:solidFill>
                  <a:srgbClr val="FF6309"/>
                </a:solidFill>
              </a:defRPr>
            </a:lvl1pPr>
          </a:lstStyle>
          <a:p>
            <a:fld id="{C2F52289-4012-4053-9770-FE82CEB9514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640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3.0. CIRCUITS &amp; COMPACT MODELS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921372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>
                <a:latin typeface="Lucida Sans"/>
                <a:cs typeface="Lucida Sans"/>
              </a:rPr>
              <a:t>Lab Book 3.0 Circuits and Compact </a:t>
            </a:r>
            <a:r>
              <a:rPr lang="es-ES" sz="3200" b="1" dirty="0" err="1">
                <a:latin typeface="Lucida Sans"/>
                <a:cs typeface="Lucida Sans"/>
              </a:rPr>
              <a:t>Models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>
                <a:latin typeface="Arial"/>
                <a:cs typeface="Arial"/>
              </a:rPr>
              <a:t>Student: Arnau Bernabeu Corbí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3.0. CIRCUITS &amp; COMPACT MODELS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https://github.com/cccanvas-upv/cifoin-lab3.git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CIRCUITS_&amp;_</a:t>
            </a:r>
            <a:r>
              <a:rPr lang="en-US" kern="0" dirty="0" err="1">
                <a:solidFill>
                  <a:sysClr val="windowText" lastClr="000000"/>
                </a:solidFill>
              </a:rPr>
              <a:t>COMPACT_MODELS.ipynb</a:t>
            </a:r>
            <a:r>
              <a:rPr lang="en-US" kern="0" dirty="0">
                <a:solidFill>
                  <a:sysClr val="windowText" lastClr="000000"/>
                </a:solidFill>
              </a:rPr>
              <a:t> </a:t>
            </a:r>
          </a:p>
          <a:p>
            <a:pPr algn="just"/>
            <a:endParaRPr lang="en-US" b="1" i="1" dirty="0"/>
          </a:p>
          <a:p>
            <a:pPr algn="just"/>
            <a:r>
              <a:rPr lang="en-US" b="1" i="1" dirty="0"/>
              <a:t>Devices </a:t>
            </a:r>
            <a:r>
              <a:rPr lang="en-US" i="1" dirty="0"/>
              <a:t>to be studied:</a:t>
            </a:r>
            <a:endParaRPr lang="en-US" b="1" i="1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8077200" y="5582965"/>
            <a:ext cx="2176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Ring Resonators (RR)</a:t>
            </a:r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1039582" y="5579058"/>
            <a:ext cx="4176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Mach-Zehnder Interferometer (MZI)</a:t>
            </a:r>
            <a:endParaRPr lang="en-US" dirty="0"/>
          </a:p>
        </p:txBody>
      </p:sp>
      <p:pic>
        <p:nvPicPr>
          <p:cNvPr id="6" name="Imagen 5" descr="Forma, Rectángulo&#10;&#10;El contenido generado por IA puede ser incorrecto.">
            <a:extLst>
              <a:ext uri="{FF2B5EF4-FFF2-40B4-BE49-F238E27FC236}">
                <a16:creationId xmlns:a16="http://schemas.microsoft.com/office/drawing/2014/main" id="{91C2AB39-AF40-7700-840D-38F2C1813C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28" y="3996612"/>
            <a:ext cx="5240632" cy="1246789"/>
          </a:xfrm>
          <a:prstGeom prst="rect">
            <a:avLst/>
          </a:prstGeom>
        </p:spPr>
      </p:pic>
      <p:pic>
        <p:nvPicPr>
          <p:cNvPr id="14" name="Imagen 13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43CD26B4-EB7C-61CA-1BCF-B2AD5F6ED0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44"/>
          <a:stretch>
            <a:fillRect/>
          </a:stretch>
        </p:blipFill>
        <p:spPr>
          <a:xfrm>
            <a:off x="6624590" y="3638327"/>
            <a:ext cx="2402774" cy="1900395"/>
          </a:xfrm>
          <a:prstGeom prst="rect">
            <a:avLst/>
          </a:prstGeom>
        </p:spPr>
      </p:pic>
      <p:pic>
        <p:nvPicPr>
          <p:cNvPr id="15" name="Imagen 14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B296E22E-7EA4-0FD2-7B98-F6CB5BB97A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58" r="786"/>
          <a:stretch>
            <a:fillRect/>
          </a:stretch>
        </p:blipFill>
        <p:spPr>
          <a:xfrm>
            <a:off x="9354819" y="3650394"/>
            <a:ext cx="2402774" cy="190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28A8A28-0D43-C564-7B6A-20F75755616A}"/>
              </a:ext>
            </a:extLst>
          </p:cNvPr>
          <p:cNvSpPr/>
          <p:nvPr/>
        </p:nvSpPr>
        <p:spPr>
          <a:xfrm>
            <a:off x="6476400" y="1418373"/>
            <a:ext cx="5332571" cy="330602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#1a – Perfectly balanced MZI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3.0. CIRCUITS &amp; COMPACT MODELS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AA9E72FF-B948-6B7A-8909-97C6BE95D6FB}"/>
              </a:ext>
            </a:extLst>
          </p:cNvPr>
          <p:cNvSpPr txBox="1">
            <a:spLocks/>
          </p:cNvSpPr>
          <p:nvPr/>
        </p:nvSpPr>
        <p:spPr>
          <a:xfrm>
            <a:off x="6629399" y="1556991"/>
            <a:ext cx="5050811" cy="28956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INSTRUCTOR: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Present Python and </a:t>
            </a:r>
            <a:r>
              <a:rPr lang="en-US" sz="2000" dirty="0" err="1"/>
              <a:t>GDSFactory</a:t>
            </a:r>
            <a:r>
              <a:rPr lang="en-US" sz="2000" dirty="0"/>
              <a:t> implementation of the Compact Models and Circuit Model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how to </a:t>
            </a:r>
            <a:r>
              <a:rPr lang="es-ES" sz="2000" dirty="0" err="1"/>
              <a:t>simulate</a:t>
            </a:r>
            <a:r>
              <a:rPr lang="es-ES" sz="2000" dirty="0"/>
              <a:t> </a:t>
            </a:r>
            <a:r>
              <a:rPr lang="es-ES" sz="2000" dirty="0" err="1"/>
              <a:t>usin</a:t>
            </a:r>
            <a:r>
              <a:rPr lang="es-ES" sz="2000" dirty="0"/>
              <a:t> SAX </a:t>
            </a:r>
            <a:r>
              <a:rPr lang="es-ES" sz="2000" dirty="0" err="1"/>
              <a:t>library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the outputs.</a:t>
            </a:r>
          </a:p>
          <a:p>
            <a:pPr marL="0" indent="0" algn="just">
              <a:buNone/>
            </a:pPr>
            <a:r>
              <a:rPr lang="en-US" b="1" dirty="0"/>
              <a:t>ALL EXAMPLE #1: </a:t>
            </a:r>
          </a:p>
          <a:p>
            <a:pPr marL="0" indent="0" algn="just">
              <a:buNone/>
            </a:pPr>
            <a:r>
              <a:rPr lang="en-US" dirty="0" err="1"/>
              <a:t>wvl</a:t>
            </a:r>
            <a:r>
              <a:rPr lang="en-US" dirty="0"/>
              <a:t> [1500-1600] step 0.001</a:t>
            </a:r>
          </a:p>
          <a:p>
            <a:pPr marL="0" indent="0" algn="just">
              <a:buNone/>
            </a:pPr>
            <a:r>
              <a:rPr lang="en-US" dirty="0"/>
              <a:t>dL = 0</a:t>
            </a:r>
          </a:p>
          <a:p>
            <a:pPr marL="0" indent="0" algn="just">
              <a:buNone/>
            </a:pPr>
            <a:r>
              <a:rPr lang="en-US" dirty="0"/>
              <a:t>Kin = Kout = 0.5 for all </a:t>
            </a:r>
            <a:r>
              <a:rPr lang="en-US" dirty="0" err="1"/>
              <a:t>wvl</a:t>
            </a:r>
            <a:endParaRPr lang="en-US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09441" y="4860334"/>
            <a:ext cx="11199971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600" dirty="0"/>
              <a:t>Una MZI perfectamente equilibrada (</a:t>
            </a:r>
            <a:r>
              <a:rPr lang="es-ES" sz="1600" dirty="0" err="1"/>
              <a:t>dL</a:t>
            </a:r>
            <a:r>
              <a:rPr lang="es-ES" sz="1600" dirty="0"/>
              <a:t> = 0, K = 0,5) dirige toda la potencia al puerto cruzado (H01 = 1) y nada al puerto directo (H00 = 0), con respuesta plana en todas las longitudes de onda. Esto es lo esperado: actúa como un conector cruzado perfecto.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2AE4A84-532D-D50D-F368-79FF1C11E97A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24B9AF7-5B09-CE7C-68D9-8620B8F4F607}"/>
              </a:ext>
            </a:extLst>
          </p:cNvPr>
          <p:cNvSpPr txBox="1"/>
          <p:nvPr/>
        </p:nvSpPr>
        <p:spPr>
          <a:xfrm>
            <a:off x="1690195" y="2494306"/>
            <a:ext cx="317106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MZI transfer </a:t>
            </a:r>
            <a:r>
              <a:rPr lang="es-ES" dirty="0" err="1"/>
              <a:t>functions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</p:txBody>
      </p:sp>
      <p:pic>
        <p:nvPicPr>
          <p:cNvPr id="8" name="Picture 84" descr="mzi_example1.png">
            <a:extLst>
              <a:ext uri="{FF2B5EF4-FFF2-40B4-BE49-F238E27FC236}">
                <a16:creationId xmlns:a16="http://schemas.microsoft.com/office/drawing/2014/main" id="{2C4292AC-772C-D7CF-E385-6D20CE1A1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486542"/>
            <a:ext cx="5105400" cy="321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5EA17-A19F-F6ED-E241-A2268CBA4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DA69D816-535A-F5EE-E106-BA148A1B2DF6}"/>
              </a:ext>
            </a:extLst>
          </p:cNvPr>
          <p:cNvSpPr/>
          <p:nvPr/>
        </p:nvSpPr>
        <p:spPr>
          <a:xfrm>
            <a:off x="6476400" y="1418373"/>
            <a:ext cx="5332571" cy="330602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D79563BA-3258-C655-D121-E2E23B61FD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#1b – Unbalanced MZI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08B251FE-4B29-D52F-1DB1-9E5BBD8CFF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3FA43D9-CFE1-F872-DD44-E04BB1B18DF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6710B9A-16F8-7A75-9BC8-FE3189874FB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n-US" spc="-5"/>
              <a:t>LAB 3.0. CIRCUITS &amp; COMPACT MODELS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0E86A2CB-D14B-54A7-9376-DAE1E4FF0284}"/>
              </a:ext>
            </a:extLst>
          </p:cNvPr>
          <p:cNvSpPr txBox="1">
            <a:spLocks/>
          </p:cNvSpPr>
          <p:nvPr/>
        </p:nvSpPr>
        <p:spPr>
          <a:xfrm>
            <a:off x="6629399" y="1556991"/>
            <a:ext cx="5050811" cy="2895600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dirty="0"/>
              <a:t>HINTS</a:t>
            </a:r>
            <a:r>
              <a:rPr lang="en-US" b="1" dirty="0"/>
              <a:t>: </a:t>
            </a:r>
          </a:p>
          <a:p>
            <a:pPr marL="0" indent="0" algn="just">
              <a:buNone/>
            </a:pPr>
            <a:r>
              <a:rPr lang="en-US" dirty="0" err="1"/>
              <a:t>wvl</a:t>
            </a:r>
            <a:r>
              <a:rPr lang="en-US" dirty="0"/>
              <a:t> [1500-1600] step 0.001</a:t>
            </a:r>
          </a:p>
          <a:p>
            <a:pPr algn="just"/>
            <a:r>
              <a:rPr lang="en-US" dirty="0"/>
              <a:t>dL =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100 µm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Kin = Kout = 0.5 for all </a:t>
            </a:r>
            <a:r>
              <a:rPr lang="en-US" dirty="0" err="1"/>
              <a:t>wvl</a:t>
            </a:r>
            <a:endParaRPr lang="en-US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0C41089-061E-9B39-3904-6F31AFE073B8}"/>
              </a:ext>
            </a:extLst>
          </p:cNvPr>
          <p:cNvSpPr txBox="1"/>
          <p:nvPr/>
        </p:nvSpPr>
        <p:spPr>
          <a:xfrm>
            <a:off x="609441" y="4860334"/>
            <a:ext cx="11199971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/>
              <a:t>Función de transferencia: patrón sinusoidal periódico. H00 y H01 son complementarios: cuando uno está en máximo el otro está en mínimo.</a:t>
            </a:r>
          </a:p>
          <a:p>
            <a:r>
              <a:rPr lang="es-ES" b="1" dirty="0"/>
              <a:t>FSR:</a:t>
            </a:r>
            <a:r>
              <a:rPr lang="es-ES" dirty="0"/>
              <a:t> con </a:t>
            </a:r>
            <a:r>
              <a:rPr lang="es-ES" dirty="0" err="1"/>
              <a:t>dL</a:t>
            </a:r>
            <a:r>
              <a:rPr lang="es-ES" dirty="0"/>
              <a:t> = 100 µm sale aproximadamente 12 nm, es decir, unas 8 franjas en el rango 1500–1600 nm. Cuanto mayor es la diferencia de longitud entre brazos, más pequeño es el FSR y más franjas aparecen.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95B976F-6522-EA3D-1323-5C97E9F88EDF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934523B-51D9-2926-EAC0-7EAD4D1D5B75}"/>
              </a:ext>
            </a:extLst>
          </p:cNvPr>
          <p:cNvSpPr txBox="1"/>
          <p:nvPr/>
        </p:nvSpPr>
        <p:spPr>
          <a:xfrm>
            <a:off x="1690195" y="2494306"/>
            <a:ext cx="317106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MZI transfer </a:t>
            </a:r>
            <a:r>
              <a:rPr lang="es-ES" dirty="0" err="1"/>
              <a:t>functions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C998141-8F54-C87F-E9EA-4410B52FE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99" y="1556991"/>
            <a:ext cx="5228659" cy="291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180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29251A-3DC4-36B2-3FB3-341378364BE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LAB 3.0. CIRCUITS &amp; COMPACT MODELS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91A34C-DF76-97CF-3EFD-546BC64A21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C2F52289-4012-4053-9770-FE82CEB9514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9601617-351E-AE1A-1F4D-693F2EA59361}"/>
              </a:ext>
            </a:extLst>
          </p:cNvPr>
          <p:cNvSpPr txBox="1"/>
          <p:nvPr/>
        </p:nvSpPr>
        <p:spPr>
          <a:xfrm>
            <a:off x="611029" y="4860335"/>
            <a:ext cx="1119953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Para obtener FSR = 10 nm a λ₀ = 1550 nm, despejamos ΔL de la fórmula del FSR usando ng = 2.0 → </a:t>
            </a:r>
            <a:r>
              <a:rPr lang="es-ES" b="1" dirty="0"/>
              <a:t>ΔL = 120.125 µm</a:t>
            </a:r>
            <a:r>
              <a:rPr lang="es-ES" dirty="0"/>
              <a:t>. La simulación confirma el resultado: los mínimos de H00 (o H01) se separan ≈ 10 nm.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811A5F9-C0B5-716C-70FB-9472E1BC2CD3}"/>
              </a:ext>
            </a:extLst>
          </p:cNvPr>
          <p:cNvSpPr/>
          <p:nvPr/>
        </p:nvSpPr>
        <p:spPr>
          <a:xfrm>
            <a:off x="611030" y="1418373"/>
            <a:ext cx="3810000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D17C364-5A66-F740-B152-8B41A2A4EF26}"/>
              </a:ext>
            </a:extLst>
          </p:cNvPr>
          <p:cNvSpPr txBox="1"/>
          <p:nvPr/>
        </p:nvSpPr>
        <p:spPr>
          <a:xfrm>
            <a:off x="5305711" y="2494307"/>
            <a:ext cx="24949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dirty="0"/>
              <a:t>MZI transfer </a:t>
            </a:r>
            <a:r>
              <a:rPr lang="es-ES" sz="2000" dirty="0" err="1"/>
              <a:t>functions</a:t>
            </a:r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Paste plot here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FB43DF1-4048-35BF-BD58-4BF2A341D2EF}"/>
              </a:ext>
            </a:extLst>
          </p:cNvPr>
          <p:cNvSpPr/>
          <p:nvPr/>
        </p:nvSpPr>
        <p:spPr>
          <a:xfrm>
            <a:off x="8610601" y="1418373"/>
            <a:ext cx="3199959" cy="330602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Hints: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wvl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[1500-1600] step 0.001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dL = ? µm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calculate for FSR = 2 nm 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Ka =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Kb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= 0.5 for all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wvl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algn="just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AA857E7-5C39-DCE1-10B5-40300FCF4B26}"/>
              </a:ext>
            </a:extLst>
          </p:cNvPr>
          <p:cNvSpPr/>
          <p:nvPr/>
        </p:nvSpPr>
        <p:spPr>
          <a:xfrm>
            <a:off x="4648200" y="1418373"/>
            <a:ext cx="3810000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C582D9ED-A2CE-6C08-D473-4C1FC636E8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13" name="object 16">
            <a:extLst>
              <a:ext uri="{FF2B5EF4-FFF2-40B4-BE49-F238E27FC236}">
                <a16:creationId xmlns:a16="http://schemas.microsoft.com/office/drawing/2014/main" id="{98DA9316-CFD5-58C0-735F-237403D53172}"/>
              </a:ext>
            </a:extLst>
          </p:cNvPr>
          <p:cNvSpPr txBox="1">
            <a:spLocks/>
          </p:cNvSpPr>
          <p:nvPr/>
        </p:nvSpPr>
        <p:spPr>
          <a:xfrm>
            <a:off x="685800" y="408883"/>
            <a:ext cx="10994410" cy="10259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500" kern="0" dirty="0"/>
              <a:t>Learning outcome #2 – MZI Design</a:t>
            </a:r>
          </a:p>
          <a:p>
            <a:pPr marL="12700">
              <a:spcBef>
                <a:spcPts val="100"/>
              </a:spcBef>
            </a:pPr>
            <a:r>
              <a:rPr lang="en-US" b="0" kern="0" spc="-5" dirty="0">
                <a:latin typeface="+mj-lt"/>
                <a:cs typeface="Lucida Sans"/>
              </a:rPr>
              <a:t>Design a MZI with FSR = 10 nm at 1550 nm</a:t>
            </a:r>
            <a:br>
              <a:rPr lang="en-US" b="0" kern="0" spc="-5" dirty="0">
                <a:latin typeface="+mj-lt"/>
                <a:cs typeface="Lucida Sans"/>
              </a:rPr>
            </a:br>
            <a:endParaRPr lang="en-US" b="0" kern="0" dirty="0">
              <a:latin typeface="+mj-lt"/>
              <a:cs typeface="Lucida San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AE895B6-EF1C-E19A-F754-C963140AFDEF}"/>
              </a:ext>
            </a:extLst>
          </p:cNvPr>
          <p:cNvSpPr txBox="1"/>
          <p:nvPr/>
        </p:nvSpPr>
        <p:spPr>
          <a:xfrm>
            <a:off x="914400" y="1570739"/>
            <a:ext cx="2133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i="1" dirty="0"/>
              <a:t>FSR = </a:t>
            </a:r>
            <a:r>
              <a:rPr lang="el-GR" sz="1800" i="1" dirty="0"/>
              <a:t>λ²/(</a:t>
            </a:r>
            <a:r>
              <a:rPr lang="es-ES" sz="1800" i="1" dirty="0"/>
              <a:t>ng × </a:t>
            </a:r>
            <a:r>
              <a:rPr lang="el-GR" sz="1800" i="1" dirty="0"/>
              <a:t>Δ</a:t>
            </a:r>
            <a:r>
              <a:rPr lang="es-ES" sz="1800" i="1" dirty="0"/>
              <a:t>L)</a:t>
            </a:r>
            <a:endParaRPr lang="es-ES" sz="1800" dirty="0"/>
          </a:p>
          <a:p>
            <a:r>
              <a:rPr lang="el-GR" sz="1800" i="1" dirty="0"/>
              <a:t>Δ</a:t>
            </a:r>
            <a:r>
              <a:rPr lang="es-ES" sz="1800" i="1" dirty="0"/>
              <a:t>L = </a:t>
            </a:r>
            <a:r>
              <a:rPr lang="el-GR" sz="1800" i="1" dirty="0"/>
              <a:t>λ²/(</a:t>
            </a:r>
            <a:r>
              <a:rPr lang="es-ES" sz="1800" i="1" dirty="0"/>
              <a:t>ng × FSR) = 1.55²/(2.0 × 0.010) = 2.4025/0.02 = 120.25 µm</a:t>
            </a:r>
            <a:endParaRPr lang="es-ES" sz="1800" dirty="0"/>
          </a:p>
          <a:p>
            <a:r>
              <a:rPr lang="es-ES" sz="1800" i="1" dirty="0"/>
              <a:t>Con ng = 2.0, </a:t>
            </a:r>
            <a:r>
              <a:rPr lang="el-GR" sz="1800" i="1" dirty="0"/>
              <a:t>λ = 1.55 µ</a:t>
            </a:r>
            <a:r>
              <a:rPr lang="es-ES" sz="1800" i="1" dirty="0"/>
              <a:t>m y FSR objetivo = 10 nm → </a:t>
            </a:r>
            <a:r>
              <a:rPr lang="el-GR" sz="1800" i="1" dirty="0"/>
              <a:t>Δ</a:t>
            </a:r>
            <a:r>
              <a:rPr lang="es-ES" sz="1800" i="1" dirty="0"/>
              <a:t>L = 120.25 µm</a:t>
            </a:r>
            <a:endParaRPr lang="es-ES" sz="1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289B304-3462-B33B-0BFA-946492B54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7" y="1434804"/>
            <a:ext cx="3645243" cy="313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654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1636B-7BF0-5143-57E9-673FF1B33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9F9CCB-631D-A124-3694-9DBF91E01CA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LAB 3.0. CIRCUITS &amp; COMPACT MODELS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D76083-7F21-5E97-9AC1-DEEB9C8B23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C2F52289-4012-4053-9770-FE82CEB9514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6A4FE9E0-92EE-4367-CEE1-FB072709D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13" name="object 16">
            <a:extLst>
              <a:ext uri="{FF2B5EF4-FFF2-40B4-BE49-F238E27FC236}">
                <a16:creationId xmlns:a16="http://schemas.microsoft.com/office/drawing/2014/main" id="{1E286371-F443-FD5C-BF57-FB23A8D7F4F7}"/>
              </a:ext>
            </a:extLst>
          </p:cNvPr>
          <p:cNvSpPr txBox="1">
            <a:spLocks/>
          </p:cNvSpPr>
          <p:nvPr/>
        </p:nvSpPr>
        <p:spPr>
          <a:xfrm>
            <a:off x="685800" y="408883"/>
            <a:ext cx="10994410" cy="71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500" kern="0" dirty="0"/>
              <a:t>Learning outcome #3 – Delay imbalance with loss</a:t>
            </a:r>
          </a:p>
          <a:p>
            <a:pPr marL="12700">
              <a:spcBef>
                <a:spcPts val="100"/>
              </a:spcBef>
            </a:pPr>
            <a:r>
              <a:rPr lang="en-US" b="0" kern="0" spc="-5" dirty="0">
                <a:latin typeface="+mj-lt"/>
                <a:cs typeface="Lucida Sans"/>
              </a:rPr>
              <a:t>Fringe visibility</a:t>
            </a:r>
            <a:endParaRPr lang="en-US" b="0" kern="0" dirty="0">
              <a:latin typeface="+mj-lt"/>
              <a:cs typeface="Lucida San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1C12A10-91CE-B5DA-9D77-267ED06AEAC2}"/>
              </a:ext>
            </a:extLst>
          </p:cNvPr>
          <p:cNvSpPr txBox="1"/>
          <p:nvPr/>
        </p:nvSpPr>
        <p:spPr>
          <a:xfrm>
            <a:off x="609441" y="4860334"/>
            <a:ext cx="11199971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i="1" dirty="0"/>
              <a:t>Caso 1 (Ka=Kb=0.5): Sí hay patrón de interferencia pero con baja visibilidad por las pérdidas del brazo largo. ER = 2.3 dB.</a:t>
            </a:r>
            <a:endParaRPr lang="es-ES" sz="1200" dirty="0"/>
          </a:p>
          <a:p>
            <a:r>
              <a:rPr lang="es-ES" sz="1200" i="1" dirty="0"/>
              <a:t>Caso 2 (Ka=0.1, Kb=0.5): No hay patrón de interferencia apreciable. Al reducir Ka las amplitudes de ambos brazos son muy distintas y la visibilidad es mínima. ER = 0 dB.</a:t>
            </a:r>
            <a:endParaRPr lang="es-ES" sz="1200" dirty="0"/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DBAE930-4EE5-671B-4DE7-6BC60C48E7C0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6CCE634-FF91-FD5F-7C1D-4329E9DA2469}"/>
              </a:ext>
            </a:extLst>
          </p:cNvPr>
          <p:cNvSpPr/>
          <p:nvPr/>
        </p:nvSpPr>
        <p:spPr>
          <a:xfrm>
            <a:off x="6476400" y="1418373"/>
            <a:ext cx="5332571" cy="330602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Hints:</a:t>
            </a:r>
          </a:p>
          <a:p>
            <a:pPr algn="just"/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wvl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[1550-1550.5] step 0.0000005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Silicon waveguide model:</a:t>
            </a:r>
          </a:p>
          <a:p>
            <a:pPr algn="just"/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n_eff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= 2.38, </a:t>
            </a:r>
          </a:p>
          <a:p>
            <a:pPr algn="just"/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n_g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= 4.25, 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D=0,</a:t>
            </a:r>
          </a:p>
          <a:p>
            <a:pPr algn="just"/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L_base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=1000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dL =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L_base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+ 55960.0840224255;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loss = 4 dB / cm</a:t>
            </a:r>
          </a:p>
          <a:p>
            <a:pPr algn="just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Case 1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. Simulate for Ka =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Kb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= 0.5 for all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wvl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algn="just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Case 2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. Simulate for Ka=0.1 for all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wvl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algn="just"/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Kb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=0.5 for all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wvl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F71FD03-8141-88A1-69BA-49588EB48896}"/>
              </a:ext>
            </a:extLst>
          </p:cNvPr>
          <p:cNvSpPr txBox="1"/>
          <p:nvPr/>
        </p:nvSpPr>
        <p:spPr>
          <a:xfrm>
            <a:off x="1690195" y="2494306"/>
            <a:ext cx="317106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MZI transfer </a:t>
            </a:r>
            <a:r>
              <a:rPr lang="es-ES" dirty="0" err="1"/>
              <a:t>functions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0788001-D67D-9C43-45BF-0D3793F9F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59050"/>
            <a:ext cx="4724399" cy="296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710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29251A-3DC4-36B2-3FB3-341378364BE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LAB 3.0. CIRCUITS &amp; COMPACT MODELS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91A34C-DF76-97CF-3EFD-546BC64A21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C2F52289-4012-4053-9770-FE82CEB9514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9601617-351E-AE1A-1F4D-693F2EA59361}"/>
              </a:ext>
            </a:extLst>
          </p:cNvPr>
          <p:cNvSpPr txBox="1"/>
          <p:nvPr/>
        </p:nvSpPr>
        <p:spPr>
          <a:xfrm>
            <a:off x="611029" y="4860335"/>
            <a:ext cx="11199530" cy="110799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el FSR es inversamente proporcional al perímetro del anillo — un anillo más grande tiene resonancias más juntas. En escala logarítmica se aprecian claramente los </a:t>
            </a:r>
            <a:r>
              <a:rPr lang="es-ES" dirty="0" err="1"/>
              <a:t>notches</a:t>
            </a:r>
            <a:r>
              <a:rPr lang="es-ES" dirty="0"/>
              <a:t> de resonancia, cuya profundidad depende del balance entre el coeficiente de acoplamiento y las pérdidas (acoplamiento crítico).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811A5F9-C0B5-716C-70FB-9472E1BC2CD3}"/>
              </a:ext>
            </a:extLst>
          </p:cNvPr>
          <p:cNvSpPr/>
          <p:nvPr/>
        </p:nvSpPr>
        <p:spPr>
          <a:xfrm>
            <a:off x="611030" y="1418373"/>
            <a:ext cx="3810000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D17C364-5A66-F740-B152-8B41A2A4EF26}"/>
              </a:ext>
            </a:extLst>
          </p:cNvPr>
          <p:cNvSpPr txBox="1"/>
          <p:nvPr/>
        </p:nvSpPr>
        <p:spPr>
          <a:xfrm>
            <a:off x="5536543" y="2494307"/>
            <a:ext cx="20333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dirty="0"/>
              <a:t>Single ring</a:t>
            </a:r>
          </a:p>
          <a:p>
            <a:pPr algn="ctr"/>
            <a:r>
              <a:rPr lang="es-ES" sz="2000" dirty="0"/>
              <a:t>transfer </a:t>
            </a:r>
            <a:r>
              <a:rPr lang="es-ES" sz="2000" dirty="0" err="1"/>
              <a:t>functions</a:t>
            </a:r>
            <a:endParaRPr lang="es-ES" sz="2000" dirty="0"/>
          </a:p>
          <a:p>
            <a:pPr algn="ctr"/>
            <a:endParaRPr lang="es-ES" sz="2000" dirty="0"/>
          </a:p>
          <a:p>
            <a:pPr algn="ctr"/>
            <a:r>
              <a:rPr lang="es-ES" sz="2000" dirty="0" err="1"/>
              <a:t>Logaritmic</a:t>
            </a:r>
            <a:r>
              <a:rPr lang="es-ES" sz="2000" dirty="0"/>
              <a:t> </a:t>
            </a:r>
            <a:r>
              <a:rPr lang="es-ES" sz="2000" dirty="0" err="1"/>
              <a:t>units</a:t>
            </a:r>
            <a:endParaRPr lang="en-US" sz="200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FB43DF1-4048-35BF-BD58-4BF2A341D2EF}"/>
              </a:ext>
            </a:extLst>
          </p:cNvPr>
          <p:cNvSpPr/>
          <p:nvPr/>
        </p:nvSpPr>
        <p:spPr>
          <a:xfrm>
            <a:off x="8610601" y="1418373"/>
            <a:ext cx="3199959" cy="330602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Hints:</a:t>
            </a:r>
          </a:p>
          <a:p>
            <a:pPr algn="just"/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None 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 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AA857E7-5C39-DCE1-10B5-40300FCF4B26}"/>
              </a:ext>
            </a:extLst>
          </p:cNvPr>
          <p:cNvSpPr/>
          <p:nvPr/>
        </p:nvSpPr>
        <p:spPr>
          <a:xfrm>
            <a:off x="4648200" y="1418373"/>
            <a:ext cx="3810000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4CF28B4-1346-F41D-2CD8-EA104ABBFB98}"/>
              </a:ext>
            </a:extLst>
          </p:cNvPr>
          <p:cNvSpPr txBox="1"/>
          <p:nvPr/>
        </p:nvSpPr>
        <p:spPr>
          <a:xfrm>
            <a:off x="1499379" y="2478160"/>
            <a:ext cx="20333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dirty="0"/>
              <a:t>Single ring</a:t>
            </a:r>
          </a:p>
          <a:p>
            <a:pPr algn="ctr"/>
            <a:r>
              <a:rPr lang="es-ES" sz="2000" dirty="0"/>
              <a:t>transfer </a:t>
            </a:r>
            <a:r>
              <a:rPr lang="es-ES" sz="2000" dirty="0" err="1"/>
              <a:t>functions</a:t>
            </a:r>
            <a:endParaRPr lang="es-ES" sz="2000" dirty="0"/>
          </a:p>
          <a:p>
            <a:pPr algn="ctr"/>
            <a:endParaRPr lang="es-ES" sz="2000" dirty="0"/>
          </a:p>
          <a:p>
            <a:pPr algn="ctr"/>
            <a:r>
              <a:rPr lang="es-ES" sz="2000" dirty="0"/>
              <a:t>Linear </a:t>
            </a:r>
            <a:r>
              <a:rPr lang="es-ES" sz="2000" dirty="0" err="1"/>
              <a:t>units</a:t>
            </a:r>
            <a:endParaRPr lang="en-US" sz="2000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83C716FC-7070-6DA5-E116-195D4CD9BD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10" name="object 16">
            <a:extLst>
              <a:ext uri="{FF2B5EF4-FFF2-40B4-BE49-F238E27FC236}">
                <a16:creationId xmlns:a16="http://schemas.microsoft.com/office/drawing/2014/main" id="{C319E249-48A9-70AD-7ACE-23CF9ABF6137}"/>
              </a:ext>
            </a:extLst>
          </p:cNvPr>
          <p:cNvSpPr txBox="1">
            <a:spLocks/>
          </p:cNvSpPr>
          <p:nvPr/>
        </p:nvSpPr>
        <p:spPr>
          <a:xfrm>
            <a:off x="685800" y="408883"/>
            <a:ext cx="10994410" cy="71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500" kern="0" dirty="0"/>
              <a:t>Learning outcome #4 – Ring Resonator</a:t>
            </a:r>
          </a:p>
          <a:p>
            <a:pPr marL="12700">
              <a:spcBef>
                <a:spcPts val="100"/>
              </a:spcBef>
            </a:pPr>
            <a:r>
              <a:rPr lang="en-US" b="0" kern="0" spc="-5" dirty="0">
                <a:latin typeface="+mj-lt"/>
                <a:cs typeface="Lucida Sans"/>
              </a:rPr>
              <a:t>Single ring resonator – most simple case Constant coupler K (no wavelength variation)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D198BD3-6661-5FD9-DA32-44AB0A58D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75693"/>
            <a:ext cx="3762375" cy="185737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4F5FD7C-D663-2488-B7CE-3F785E7BE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187" y="1845092"/>
            <a:ext cx="3790013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184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CA2DF-810F-7BDA-CFF3-0CFEE7603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15C280-A84A-95DA-94D2-FE062C8ED61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LAB 3.0. CIRCUITS &amp; COMPACT MODELS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19F9EF-02D5-71FC-C2BC-F8EC5B26723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C2F52289-4012-4053-9770-FE82CEB9514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BC6D2B9-07F5-E2FA-C9AD-029B63B098DA}"/>
              </a:ext>
            </a:extLst>
          </p:cNvPr>
          <p:cNvSpPr txBox="1"/>
          <p:nvPr/>
        </p:nvSpPr>
        <p:spPr>
          <a:xfrm>
            <a:off x="611029" y="4860335"/>
            <a:ext cx="11199530" cy="166199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/>
              <a:t>Con L = 80.08 µm el FSR es exactamente 15 nm → verás ~6-7 resonancias en 1500–1600 nm</a:t>
            </a:r>
          </a:p>
          <a:p>
            <a:r>
              <a:rPr lang="es-ES" dirty="0"/>
              <a:t>El ER con K = 0.5 y las pérdidas actuales no será máximo; para alcanzar </a:t>
            </a:r>
            <a:r>
              <a:rPr lang="es-ES" b="1" dirty="0"/>
              <a:t>acoplamiento crítico</a:t>
            </a:r>
            <a:r>
              <a:rPr lang="es-ES" dirty="0"/>
              <a:t> habría que ajustar K hasta igualar las pérdidas de la cavidad (</a:t>
            </a:r>
            <a:r>
              <a:rPr lang="es-ES" dirty="0" err="1"/>
              <a:t>K_crítico</a:t>
            </a:r>
            <a:r>
              <a:rPr lang="es-ES" dirty="0"/>
              <a:t> = 1 − e^(−α·L))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54DA3AC-DFE0-BB51-7C71-7CD9087359D0}"/>
              </a:ext>
            </a:extLst>
          </p:cNvPr>
          <p:cNvSpPr/>
          <p:nvPr/>
        </p:nvSpPr>
        <p:spPr>
          <a:xfrm>
            <a:off x="8610601" y="1418373"/>
            <a:ext cx="3199959" cy="330602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Hints: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the perimeter for a FSR = 15 nm. </a:t>
            </a:r>
          </a:p>
          <a:p>
            <a:pPr algn="just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equations given in class that relate FSR and perimeter.</a:t>
            </a:r>
          </a:p>
          <a:p>
            <a:pPr algn="just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2011495-88D4-8787-6CB7-704897D84CF9}"/>
              </a:ext>
            </a:extLst>
          </p:cNvPr>
          <p:cNvSpPr/>
          <p:nvPr/>
        </p:nvSpPr>
        <p:spPr>
          <a:xfrm>
            <a:off x="611030" y="1418373"/>
            <a:ext cx="3810000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BD35A6E-6540-9761-4128-0E43122290D4}"/>
              </a:ext>
            </a:extLst>
          </p:cNvPr>
          <p:cNvSpPr txBox="1"/>
          <p:nvPr/>
        </p:nvSpPr>
        <p:spPr>
          <a:xfrm>
            <a:off x="5536543" y="2494307"/>
            <a:ext cx="20333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dirty="0"/>
              <a:t>Single ring</a:t>
            </a:r>
          </a:p>
          <a:p>
            <a:pPr algn="ctr"/>
            <a:r>
              <a:rPr lang="es-ES" sz="2000" dirty="0"/>
              <a:t>transfer </a:t>
            </a:r>
            <a:r>
              <a:rPr lang="es-ES" sz="2000" dirty="0" err="1"/>
              <a:t>functions</a:t>
            </a:r>
            <a:endParaRPr lang="es-ES" sz="2000" dirty="0"/>
          </a:p>
          <a:p>
            <a:pPr algn="ctr"/>
            <a:endParaRPr lang="es-ES" sz="2000" dirty="0"/>
          </a:p>
          <a:p>
            <a:pPr algn="ctr"/>
            <a:r>
              <a:rPr lang="es-ES" sz="2000" dirty="0" err="1"/>
              <a:t>Logaritmic</a:t>
            </a:r>
            <a:r>
              <a:rPr lang="es-ES" sz="2000" dirty="0"/>
              <a:t> </a:t>
            </a:r>
            <a:r>
              <a:rPr lang="es-ES" sz="2000" dirty="0" err="1"/>
              <a:t>units</a:t>
            </a:r>
            <a:endParaRPr lang="en-US" sz="20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3798D61-1E16-8473-BDCE-1D97F95EF7BE}"/>
              </a:ext>
            </a:extLst>
          </p:cNvPr>
          <p:cNvSpPr/>
          <p:nvPr/>
        </p:nvSpPr>
        <p:spPr>
          <a:xfrm>
            <a:off x="4648200" y="1418373"/>
            <a:ext cx="3810000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49B3613-E785-3FCB-DA8D-2B43EB104C5D}"/>
              </a:ext>
            </a:extLst>
          </p:cNvPr>
          <p:cNvSpPr txBox="1"/>
          <p:nvPr/>
        </p:nvSpPr>
        <p:spPr>
          <a:xfrm>
            <a:off x="1499379" y="2478160"/>
            <a:ext cx="20333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dirty="0"/>
              <a:t>Single ring</a:t>
            </a:r>
          </a:p>
          <a:p>
            <a:pPr algn="ctr"/>
            <a:r>
              <a:rPr lang="es-ES" sz="2000" dirty="0"/>
              <a:t>transfer </a:t>
            </a:r>
            <a:r>
              <a:rPr lang="es-ES" sz="2000" dirty="0" err="1"/>
              <a:t>functions</a:t>
            </a:r>
            <a:endParaRPr lang="es-ES" sz="2000" dirty="0"/>
          </a:p>
          <a:p>
            <a:pPr algn="ctr"/>
            <a:endParaRPr lang="es-ES" sz="2000" dirty="0"/>
          </a:p>
          <a:p>
            <a:pPr algn="ctr"/>
            <a:r>
              <a:rPr lang="es-ES" sz="2000" dirty="0"/>
              <a:t>Linear </a:t>
            </a:r>
            <a:r>
              <a:rPr lang="es-ES" sz="2000" dirty="0" err="1"/>
              <a:t>units</a:t>
            </a:r>
            <a:endParaRPr lang="en-US" sz="2000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64B3EEA8-5B6A-F628-0B9C-42450CEE9B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14" name="object 16">
            <a:extLst>
              <a:ext uri="{FF2B5EF4-FFF2-40B4-BE49-F238E27FC236}">
                <a16:creationId xmlns:a16="http://schemas.microsoft.com/office/drawing/2014/main" id="{4E9E05B5-9445-DD50-60E9-03B04ED264D4}"/>
              </a:ext>
            </a:extLst>
          </p:cNvPr>
          <p:cNvSpPr txBox="1">
            <a:spLocks/>
          </p:cNvSpPr>
          <p:nvPr/>
        </p:nvSpPr>
        <p:spPr>
          <a:xfrm>
            <a:off x="685800" y="408883"/>
            <a:ext cx="10994410" cy="71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500" kern="0" dirty="0"/>
              <a:t>Learning outcome #5 – Ring resonator design</a:t>
            </a:r>
          </a:p>
          <a:p>
            <a:pPr marL="12700">
              <a:spcBef>
                <a:spcPts val="100"/>
              </a:spcBef>
            </a:pPr>
            <a:r>
              <a:rPr lang="en-US" b="0" kern="0" spc="-5" dirty="0">
                <a:latin typeface="+mj-lt"/>
                <a:cs typeface="Lucida Sans"/>
              </a:rPr>
              <a:t>Design the perimeter for a FSR = 15 nm.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53FB55A-76FF-6425-1ED8-4364C7FF8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305" y="1571625"/>
            <a:ext cx="3445896" cy="224612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2195E2A-8EE5-DBC8-5186-2AFFCF858F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5275" y="1752600"/>
            <a:ext cx="3260648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989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29251A-3DC4-36B2-3FB3-341378364BE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LAB 3.0. CIRCUITS &amp; COMPACT MODELS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91A34C-DF76-97CF-3EFD-546BC64A21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C2F52289-4012-4053-9770-FE82CEB9514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9601617-351E-AE1A-1F4D-693F2EA59361}"/>
              </a:ext>
            </a:extLst>
          </p:cNvPr>
          <p:cNvSpPr txBox="1"/>
          <p:nvPr/>
        </p:nvSpPr>
        <p:spPr>
          <a:xfrm>
            <a:off x="611029" y="4860335"/>
            <a:ext cx="11199530" cy="110799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El acoplamiento crítico se alcanza cuando K iguala las pérdidas de la cavidad — en ese punto la resonancia tiene extinción máxima (T = 0 en el mínimo). Con K demasiado bajo (</a:t>
            </a:r>
            <a:r>
              <a:rPr lang="es-ES" dirty="0" err="1"/>
              <a:t>undercoupled</a:t>
            </a:r>
            <a:r>
              <a:rPr lang="es-ES" dirty="0"/>
              <a:t>) o demasiado alto (</a:t>
            </a:r>
            <a:r>
              <a:rPr lang="es-ES" dirty="0" err="1"/>
              <a:t>overcoupled</a:t>
            </a:r>
            <a:r>
              <a:rPr lang="es-ES" dirty="0"/>
              <a:t>) el ER disminuye.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0B245A9E-6C9A-F3A8-E4B7-6615801264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16" name="object 16">
            <a:extLst>
              <a:ext uri="{FF2B5EF4-FFF2-40B4-BE49-F238E27FC236}">
                <a16:creationId xmlns:a16="http://schemas.microsoft.com/office/drawing/2014/main" id="{8266F13B-05F1-81DE-B638-66D10EEB9FA2}"/>
              </a:ext>
            </a:extLst>
          </p:cNvPr>
          <p:cNvSpPr txBox="1">
            <a:spLocks/>
          </p:cNvSpPr>
          <p:nvPr/>
        </p:nvSpPr>
        <p:spPr>
          <a:xfrm>
            <a:off x="685800" y="408883"/>
            <a:ext cx="10994410" cy="71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500" kern="0" dirty="0"/>
              <a:t>Learning outcome #6a – Effect of K </a:t>
            </a:r>
          </a:p>
          <a:p>
            <a:pPr marL="12700">
              <a:spcBef>
                <a:spcPts val="100"/>
              </a:spcBef>
            </a:pPr>
            <a:r>
              <a:rPr lang="en-US" b="0" kern="0" spc="-5" dirty="0">
                <a:latin typeface="+mj-lt"/>
                <a:cs typeface="Lucida Sans"/>
              </a:rPr>
              <a:t>Change K value between 0.1 and 0.9 in steps of 0.1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61A43E1-695A-085B-A713-EA1414388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063343"/>
            <a:ext cx="9144000" cy="328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625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29251A-3DC4-36B2-3FB3-341378364BE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LAB 3.0. CIRCUITS &amp; COMPACT MODELS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91A34C-DF76-97CF-3EFD-546BC64A21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C2F52289-4012-4053-9770-FE82CEB9514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9601617-351E-AE1A-1F4D-693F2EA59361}"/>
              </a:ext>
            </a:extLst>
          </p:cNvPr>
          <p:cNvSpPr txBox="1"/>
          <p:nvPr/>
        </p:nvSpPr>
        <p:spPr>
          <a:xfrm>
            <a:off x="611029" y="4860335"/>
            <a:ext cx="11199530" cy="129266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Al aumentar las pérdidas el anillo pasa de </a:t>
            </a:r>
            <a:r>
              <a:rPr lang="es-ES" dirty="0" err="1"/>
              <a:t>overcoupled</a:t>
            </a:r>
            <a:r>
              <a:rPr lang="es-ES" dirty="0"/>
              <a:t> (K &gt; </a:t>
            </a:r>
            <a:r>
              <a:rPr lang="es-ES" dirty="0" err="1"/>
              <a:t>K_crítico</a:t>
            </a:r>
            <a:r>
              <a:rPr lang="es-ES" dirty="0"/>
              <a:t>, poco ER) a </a:t>
            </a:r>
            <a:r>
              <a:rPr lang="es-ES" dirty="0" err="1"/>
              <a:t>critical</a:t>
            </a:r>
            <a:r>
              <a:rPr lang="es-ES" dirty="0"/>
              <a:t> </a:t>
            </a:r>
            <a:r>
              <a:rPr lang="es-ES" dirty="0" err="1"/>
              <a:t>coupling</a:t>
            </a:r>
            <a:r>
              <a:rPr lang="es-ES" dirty="0"/>
              <a:t> (ER máximo) y de ahí a </a:t>
            </a:r>
            <a:r>
              <a:rPr lang="es-ES" dirty="0" err="1"/>
              <a:t>undercoupled</a:t>
            </a:r>
            <a:r>
              <a:rPr lang="es-ES" dirty="0"/>
              <a:t> (K &lt; </a:t>
            </a:r>
            <a:r>
              <a:rPr lang="es-ES" dirty="0" err="1"/>
              <a:t>K_crítico</a:t>
            </a:r>
            <a:r>
              <a:rPr lang="es-ES" dirty="0"/>
              <a:t>, ER vuelve a bajar). El caso de acoplamiento crítico es aquel donde el </a:t>
            </a:r>
            <a:r>
              <a:rPr lang="es-ES" dirty="0" err="1"/>
              <a:t>notch</a:t>
            </a:r>
            <a:r>
              <a:rPr lang="es-ES" dirty="0"/>
              <a:t> de resonancia llega más cerca de cero en escala lineal.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16D15CB1-2EB9-A3F2-8611-C524CCD1CA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18" name="object 16">
            <a:extLst>
              <a:ext uri="{FF2B5EF4-FFF2-40B4-BE49-F238E27FC236}">
                <a16:creationId xmlns:a16="http://schemas.microsoft.com/office/drawing/2014/main" id="{989133D6-A9B3-EFEA-2703-51A6BDA0A885}"/>
              </a:ext>
            </a:extLst>
          </p:cNvPr>
          <p:cNvSpPr txBox="1">
            <a:spLocks/>
          </p:cNvSpPr>
          <p:nvPr/>
        </p:nvSpPr>
        <p:spPr>
          <a:xfrm>
            <a:off x="685800" y="408883"/>
            <a:ext cx="10994410" cy="71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500" kern="0" dirty="0"/>
              <a:t>Learning outcome #6b – E</a:t>
            </a:r>
            <a:r>
              <a:rPr lang="en-US" sz="2500" dirty="0"/>
              <a:t>ffect of loss</a:t>
            </a:r>
            <a:endParaRPr lang="en-US" sz="2500" kern="0" dirty="0"/>
          </a:p>
          <a:p>
            <a:pPr marL="12700">
              <a:spcBef>
                <a:spcPts val="100"/>
              </a:spcBef>
            </a:pPr>
            <a:r>
              <a:rPr lang="en-US" b="0" kern="0" spc="-5" dirty="0">
                <a:latin typeface="+mj-lt"/>
                <a:cs typeface="Lucida Sans"/>
              </a:rPr>
              <a:t>Change losses value between 0 and 8 </a:t>
            </a:r>
            <a:r>
              <a:rPr lang="en-US" b="0" kern="0" spc="-5" dirty="0">
                <a:solidFill>
                  <a:srgbClr val="FF0000"/>
                </a:solidFill>
                <a:latin typeface="+mj-lt"/>
                <a:cs typeface="Lucida Sans"/>
              </a:rPr>
              <a:t>dB/cm </a:t>
            </a:r>
            <a:r>
              <a:rPr lang="en-US" b="0" kern="0" spc="-5" dirty="0">
                <a:latin typeface="+mj-lt"/>
                <a:cs typeface="Lucida Sans"/>
              </a:rPr>
              <a:t>in steps of 1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FFFBFAE-D5EC-B8EA-FAF9-E2799D08E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22489"/>
            <a:ext cx="10058399" cy="352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196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11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837</TotalTime>
  <Words>1038</Words>
  <Application>Microsoft Office PowerPoint</Application>
  <PresentationFormat>Panorámica</PresentationFormat>
  <Paragraphs>144</Paragraphs>
  <Slides>11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Lucida Sans</vt:lpstr>
      <vt:lpstr>Wingdings</vt:lpstr>
      <vt:lpstr>Office Theme</vt:lpstr>
      <vt:lpstr>Presentación de PowerPoint</vt:lpstr>
      <vt:lpstr>Instructions General</vt:lpstr>
      <vt:lpstr>Learning outcome #1a – Perfectly balanced MZI </vt:lpstr>
      <vt:lpstr>Learning outcome #1b – Unbalanced MZI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Arnau Bernabeu Corbi</cp:lastModifiedBy>
  <cp:revision>14</cp:revision>
  <dcterms:created xsi:type="dcterms:W3CDTF">2025-01-27T02:46:57Z</dcterms:created>
  <dcterms:modified xsi:type="dcterms:W3CDTF">2026-05-29T18:32:28Z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